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808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148840"/>
            <a:ext cx="128016" cy="187452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188720" y="224028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夜の寺社経済圏 構想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07008" y="3703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オーバーツーリズム × 観光振興 を同時に解決する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07008" y="5074920"/>
            <a:ext cx="475488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207008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地理学Ⅰ </a:t>
            </a:r>
            <a:r>
              <a:rPr lang="en-US" sz="1400" dirty="0" err="1">
                <a:solidFill>
                  <a:srgbClr val="9FB0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最終課題</a:t>
            </a:r>
            <a:r>
              <a:rPr lang="en-US" sz="1400" dirty="0">
                <a:solidFill>
                  <a:srgbClr val="9FB0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5623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学籍番号 : 62616321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理工学部一年　平野 巧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現状認識 ｜ 鎌倉の観光構造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現状の観光客は</a:t>
            </a:r>
            <a:r>
              <a:rPr lang="en-US" sz="3200" b="1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昼に集中</a:t>
            </a:r>
            <a:r>
              <a:rPr lang="ja-JP" alt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していて、</a:t>
            </a:r>
            <a:r>
              <a:rPr lang="en-US" sz="3200" b="1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夜に</a:t>
            </a:r>
            <a:r>
              <a:rPr lang="ja-JP" alt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はいなくなる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昼間 14時</a:t>
            </a:r>
            <a:endParaRPr lang="en-US" sz="1500" dirty="0"/>
          </a:p>
        </p:txBody>
      </p:sp>
      <p:pic>
        <p:nvPicPr>
          <p:cNvPr id="6" name="Image 0" descr="/home/claude/kamakura/img/map_14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75104"/>
            <a:ext cx="5257800" cy="2381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162763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 20時</a:t>
            </a:r>
            <a:endParaRPr lang="en-US" sz="1500" dirty="0"/>
          </a:p>
        </p:txBody>
      </p:sp>
      <p:pic>
        <p:nvPicPr>
          <p:cNvPr id="8" name="Image 1" descr="/home/claude/kamakura/img/map_20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75104"/>
            <a:ext cx="5257800" cy="2333688"/>
          </a:xfrm>
          <a:prstGeom prst="rect">
            <a:avLst/>
          </a:prstGeom>
        </p:spPr>
      </p:pic>
      <p:pic>
        <p:nvPicPr>
          <p:cNvPr id="9" name="Image 2" descr="/home/claude/kamakura/img/chart_hour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56354"/>
            <a:ext cx="3108960" cy="183636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977640" y="4370832"/>
            <a:ext cx="7635240" cy="1828800"/>
          </a:xfrm>
          <a:prstGeom prst="rect">
            <a:avLst/>
          </a:prstGeom>
          <a:solidFill>
            <a:srgbClr val="F2EF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6"/>
          <p:cNvSpPr/>
          <p:nvPr/>
        </p:nvSpPr>
        <p:spPr>
          <a:xfrm>
            <a:off x="3977640" y="4370832"/>
            <a:ext cx="91440" cy="1828800"/>
          </a:xfrm>
          <a:prstGeom prst="rect">
            <a:avLst/>
          </a:prstGeom>
          <a:solidFill>
            <a:srgbClr val="7B2D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4297680" y="4535424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約46万人</a:t>
            </a: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13時のピーク滞留人口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4297680" y="5321808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約23万人</a:t>
            </a: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20時に半減、深夜は定住人口（約19万）へ</a:t>
            </a:r>
            <a:endParaRPr lang="en-US" sz="3200" dirty="0"/>
          </a:p>
        </p:txBody>
      </p:sp>
      <p:sp>
        <p:nvSpPr>
          <p:cNvPr id="14" name="Shape 9"/>
          <p:cNvSpPr/>
          <p:nvPr/>
        </p:nvSpPr>
        <p:spPr>
          <a:xfrm>
            <a:off x="548640" y="6291072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0"/>
          <p:cNvSpPr/>
          <p:nvPr/>
        </p:nvSpPr>
        <p:spPr>
          <a:xfrm>
            <a:off x="548640" y="63550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RESAS（地域経済分析システム）滞留人口メッシュ（2024年・250mメッシュ）より作成。分析範囲は鎌倉駅周辺。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144000" y="6355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612880" y="6355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現状認識 ｜ 鎌倉の観光構造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問題分析（KJ法）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住民生活の圧迫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063240" cy="0"/>
          </a:xfrm>
          <a:prstGeom prst="line">
            <a:avLst/>
          </a:prstGeom>
          <a:noFill/>
          <a:ln w="19050">
            <a:solidFill>
              <a:srgbClr val="7B2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昼の混雑が生活道路に流入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観光客のマナー・騒音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観光が増えるほど負担増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76472" y="17830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45152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経済効果の取りこぼし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76472" y="2743200"/>
            <a:ext cx="3063240" cy="0"/>
          </a:xfrm>
          <a:prstGeom prst="line">
            <a:avLst/>
          </a:prstGeom>
          <a:noFill/>
          <a:ln w="19050">
            <a:solidFill>
              <a:srgbClr val="7B2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776472" y="292608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日帰り中心で宿泊が少ない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夜間に消費の場がない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客単価が伸びない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04304" y="17830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872984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夜間拝観の未活用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04304" y="2743200"/>
            <a:ext cx="3063240" cy="0"/>
          </a:xfrm>
          <a:prstGeom prst="line">
            <a:avLst/>
          </a:prstGeom>
          <a:noFill/>
          <a:ln w="19050">
            <a:solidFill>
              <a:srgbClr val="7B2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004304" y="292608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夜間拝観は紅葉期のみ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寺社ごとにバラバラ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19〜20時で終了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21240" y="1783080"/>
            <a:ext cx="1691640" cy="3246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92124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C9A24B"/>
                </a:solidFill>
                <a:latin typeface="Yu Gothic" pitchFamily="34" charset="0"/>
                <a:ea typeface="Yu Gothic" pitchFamily="34" charset="-122"/>
              </a:rPr>
              <a:t>結果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378440" y="2450592"/>
            <a:ext cx="77724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058400" y="2606040"/>
            <a:ext cx="1417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観光業が成長するほど住民の負担が増える構造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841248"/>
          </a:xfrm>
          <a:prstGeom prst="rect">
            <a:avLst/>
          </a:prstGeom>
          <a:solidFill>
            <a:srgbClr val="F2EFE8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気づき：　</a:t>
            </a:r>
            <a:r>
              <a:rPr lang="en-US" sz="160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観光と住民生活</a:t>
            </a:r>
            <a:r>
              <a:rPr lang="ja-JP" altLang="en-US" sz="16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の両立矛盾しているよう</a:t>
            </a:r>
            <a:r>
              <a:rPr lang="en-US" sz="160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に見えるが、昼→夜への需要の再配分で同時に解決できる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6291072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39931" y="63550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 err="1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出所：鎌倉市観光基本計画</a:t>
            </a:r>
            <a:r>
              <a:rPr lang="ja-JP" altLang="en-US" sz="105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0" y="6355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612880" y="6355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kern="0" spc="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地理</a:t>
            </a:r>
            <a:r>
              <a:rPr lang="en-US" sz="1300" kern="0" spc="100" dirty="0" err="1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</a:t>
            </a:r>
            <a:r>
              <a:rPr lang="en-US" sz="1300" kern="0" spc="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｜ jSTAT MAP 徒歩到達圏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寺社巡り</a:t>
            </a:r>
            <a:r>
              <a:rPr lang="en-US" sz="3200" b="1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の物理的制約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home/claude/kamakura/img/map_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400800" cy="39316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50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鎌倉</a:t>
            </a:r>
            <a:r>
              <a:rPr lang="en-US" sz="1200" i="1" dirty="0" err="1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駅周辺と北鎌倉は歩</a:t>
            </a:r>
            <a:r>
              <a:rPr lang="ja-JP" altLang="en-US" sz="120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くと遠すぎる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</a:t>
            </a:r>
            <a:r>
              <a:rPr lang="ja-JP" altLang="en-US" sz="1800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などから</a:t>
            </a:r>
            <a:r>
              <a:rPr lang="ja-JP" altLang="en-US" b="1" dirty="0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分かること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0" y="2212848"/>
            <a:ext cx="4297680" cy="0"/>
          </a:xfrm>
          <a:prstGeom prst="line">
            <a:avLst/>
          </a:prstGeom>
          <a:noFill/>
          <a:ln w="19050">
            <a:solidFill>
              <a:srgbClr val="7B2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7315200" y="237744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300"/>
              </a:spcAft>
              <a:buSzPct val="100000"/>
            </a:pP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北鎌倉（円覚寺・建長寺）の徒歩圏は駅周辺</a:t>
            </a:r>
            <a:r>
              <a:rPr lang="ja-JP" altLang="en-US" sz="14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から離れており３０分程度かかる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ja-JP" altLang="en-US" sz="14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また現地は</a:t>
            </a:r>
            <a:r>
              <a:rPr lang="en-US" sz="145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起伏が大きく、徒歩での寺社間回遊は困難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315200" y="4434840"/>
            <a:ext cx="4297680" cy="16916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7589520" y="4617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C9A2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　</a:t>
            </a: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夜間に複数寺社を回遊させるには徒歩任せでは不可。共通パスと既存交通（横須賀線・江ノ電・バス）の接続が前提になる。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6291072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e-Stat「地図で見る統計（jSTAT MAP）」徒歩到達圏分析・国勢調査人口(2020)より作成。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0" y="6355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612880" y="6355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 ｜ 解決策の構造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解決策（ロジックツリー）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514600" cy="1143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夜の寺社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経済圏の構築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063240" y="3493008"/>
            <a:ext cx="640080" cy="0"/>
          </a:xfrm>
          <a:prstGeom prst="line">
            <a:avLst/>
          </a:prstGeom>
          <a:noFill/>
          <a:ln w="15875">
            <a:solidFill>
              <a:srgbClr val="8A8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703320" y="1691640"/>
            <a:ext cx="1234440" cy="896112"/>
          </a:xfrm>
          <a:prstGeom prst="rect">
            <a:avLst/>
          </a:prstGeom>
          <a:solidFill>
            <a:srgbClr val="7B2D3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703320" y="1691640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通年化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937760" y="1691640"/>
            <a:ext cx="2743200" cy="896112"/>
          </a:xfrm>
          <a:prstGeom prst="rect">
            <a:avLst/>
          </a:prstGeom>
          <a:solidFill>
            <a:srgbClr val="F2EF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74920" y="169164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四季テーマで</a:t>
            </a:r>
            <a:endParaRPr lang="en-US" sz="1350" dirty="0"/>
          </a:p>
          <a:p>
            <a:pPr marL="0" indent="0">
              <a:buNone/>
            </a:pPr>
            <a:r>
              <a:rPr lang="ja-JP" alt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</a:rPr>
              <a:t>年中開催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0" y="169164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7B2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主体：寺社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063240" y="3493008"/>
            <a:ext cx="640080" cy="0"/>
          </a:xfrm>
          <a:prstGeom prst="line">
            <a:avLst/>
          </a:prstGeom>
          <a:noFill/>
          <a:ln w="15875">
            <a:solidFill>
              <a:srgbClr val="8A8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703320" y="2843784"/>
            <a:ext cx="1234440" cy="896112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703320" y="2843784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広域化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937760" y="2843784"/>
            <a:ext cx="2743200" cy="896112"/>
          </a:xfrm>
          <a:prstGeom prst="rect">
            <a:avLst/>
          </a:prstGeom>
          <a:solidFill>
            <a:srgbClr val="F2EF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074920" y="284378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寺社横断の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共通デジタルパス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284378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6E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主体：市・観光協会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63240" y="3493008"/>
            <a:ext cx="640080" cy="950976"/>
          </a:xfrm>
          <a:prstGeom prst="line">
            <a:avLst/>
          </a:prstGeom>
          <a:noFill/>
          <a:ln w="15875">
            <a:solidFill>
              <a:srgbClr val="8A8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3703320" y="3995928"/>
            <a:ext cx="1234440" cy="896112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703320" y="3995928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延長化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937760" y="3995928"/>
            <a:ext cx="2743200" cy="896112"/>
          </a:xfrm>
          <a:prstGeom prst="rect">
            <a:avLst/>
          </a:prstGeom>
          <a:solidFill>
            <a:srgbClr val="F2EF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074920" y="399592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21時以降への延長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＋加盟店割引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63840" y="3995928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主体：商工会・店舗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063240" y="3493008"/>
            <a:ext cx="640080" cy="2103120"/>
          </a:xfrm>
          <a:prstGeom prst="line">
            <a:avLst/>
          </a:prstGeom>
          <a:noFill/>
          <a:ln w="15875">
            <a:solidFill>
              <a:srgbClr val="8A8A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3703320" y="5148072"/>
            <a:ext cx="1234440" cy="89611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703320" y="5148072"/>
            <a:ext cx="1234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還元化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4937760" y="5148072"/>
            <a:ext cx="2743200" cy="896112"/>
          </a:xfrm>
          <a:prstGeom prst="rect">
            <a:avLst/>
          </a:prstGeom>
          <a:solidFill>
            <a:srgbClr val="F2EF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074920" y="514807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入域料の一部を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地元自治会へ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863840" y="5148072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主体：市（条例）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6291072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 err="1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宗教法人の自律性に配慮した</a:t>
            </a:r>
            <a:r>
              <a:rPr lang="ja-JP" altLang="en-US" sz="105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</a:t>
            </a:r>
            <a:r>
              <a:rPr lang="en-US" sz="1050" i="1" dirty="0" err="1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とする</a:t>
            </a:r>
            <a:r>
              <a:rPr lang="en-US" sz="105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44000" y="6355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612880" y="6355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 ｜ リスクとガバナンス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想定される反応と対応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5844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反論・懸念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影響度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発生確率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対応策（設計段階で内蔵）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夜間の騒音・治安は？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21時閉門を条例で明文化／夜間警備員を運営費から確保／住宅地から離れた寺社を優先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寺社の宗教性は守れる？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拝観動線・演出は寺社主導で決定／商業利用区分を寺社連絡協議会で線引き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混雑が夜に移るだけでは？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予約制＋定員制で総量を管理して分散させる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自然災害・荒天で収益が変わる？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通年開催で季節リスクを下げる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財源は？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325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共通パス収入で自走させる。初期のみ行政が支援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291072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4"/>
          <p:cNvSpPr/>
          <p:nvPr/>
        </p:nvSpPr>
        <p:spPr>
          <a:xfrm>
            <a:off x="548640" y="63550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05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</a:t>
            </a:r>
            <a:r>
              <a:rPr lang="en-US" sz="1050" i="1" dirty="0" err="1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鎌倉市観光基本計画</a:t>
            </a:r>
            <a:r>
              <a:rPr lang="en-US" sz="1050" i="1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等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0" y="6355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612880" y="6355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 ｜ データと文献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参考文献・データ出所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RESAS（地域経済分析システム）　滞留人口メッシュ（2024年）　https://resas.go.jp/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e-Stat「地図で見る統計（jSTAT MAP）」　徒歩到達圏分析・国勢調査人口（2020年）　https://jstatmap.e-stat.go.jp/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鎌倉市観光基本計画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各寺社公式サイト（夜間特別拝観情報）／鎌倉市観光協会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京都市観光協会・高台寺ほか（先行事例参照）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図表</a:t>
            </a:r>
            <a:r>
              <a:rPr lang="ja-JP" alt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、文章</a:t>
            </a:r>
            <a:r>
              <a:rPr lang="en-US" sz="150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はいずれも上記データをもとに筆者作成</a:t>
            </a:r>
            <a:r>
              <a:rPr 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r>
              <a:rPr lang="ja-JP" alt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スライドの改善</a:t>
            </a:r>
            <a:r>
              <a:rPr lang="en-US" altLang="ja-JP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	</a:t>
            </a:r>
            <a:r>
              <a:rPr lang="ja-JP" alt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配色やフォントなどのデザイン</a:t>
            </a:r>
            <a:r>
              <a:rPr lang="en-US" altLang="ja-JP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</a:t>
            </a:r>
            <a:r>
              <a:rPr lang="ja-JP" alt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</a:t>
            </a:r>
            <a:r>
              <a:rPr lang="en-US" altLang="ja-JP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r>
              <a:rPr lang="ja-JP" alt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</a:t>
            </a:r>
            <a:r>
              <a:rPr lang="en-US" sz="1500" dirty="0" err="1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Claudeを</a:t>
            </a:r>
            <a:r>
              <a:rPr lang="ja-JP" altLang="en-US" sz="1500" dirty="0">
                <a:solidFill>
                  <a:srgbClr val="2325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291072"/>
            <a:ext cx="1106424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612880" y="6355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384</Words>
  <Application>Microsoft Office PowerPoint</Application>
  <PresentationFormat>ワイド画面</PresentationFormat>
  <Paragraphs>111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夜の寺社経済圏 構想</dc:title>
  <dc:subject>PptxGenJS Presentation</dc:subject>
  <dc:creator>平野 巧</dc:creator>
  <cp:lastModifiedBy>takumi.hirano@keio.jp</cp:lastModifiedBy>
  <cp:revision>2</cp:revision>
  <dcterms:created xsi:type="dcterms:W3CDTF">2026-05-21T08:10:44Z</dcterms:created>
  <dcterms:modified xsi:type="dcterms:W3CDTF">2026-05-21T08:38:31Z</dcterms:modified>
</cp:coreProperties>
</file>